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1" r:id="rId4"/>
    <p:sldId id="262" r:id="rId5"/>
    <p:sldId id="272" r:id="rId6"/>
    <p:sldId id="263" r:id="rId7"/>
    <p:sldId id="264" r:id="rId8"/>
    <p:sldId id="265" r:id="rId9"/>
    <p:sldId id="266" r:id="rId10"/>
    <p:sldId id="271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DEF9-BC39-67AF-D2AD-76B737387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71FB4-2D03-357D-F23B-241C1F00D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69AF2-064E-7138-71E8-507D8375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3873-B0B3-42AD-A9E3-38D38FDA1AE4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D7EE5-F45C-1505-86C3-467646A6C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C7C7D-1D63-AC97-5078-4CD1C0A09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6C22-FC3E-4CCF-82F9-63C046559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908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5975B-4453-A14D-3986-D27C4A58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F3CE-8BF0-1459-80B3-2F869DF46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92977-3FFF-408F-13C0-00671BA6D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3873-B0B3-42AD-A9E3-38D38FDA1AE4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7CF44-A0A7-C92F-9AFA-8BB833AF8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90D0B-AEC9-6435-15E1-5FD458C1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6C22-FC3E-4CCF-82F9-63C046559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02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8CCD2-A80A-E6E3-1861-1E7A2B75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DBB5C-6A12-1892-B683-C970B232F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F3B7C-ABB7-E48B-BAE8-506F10F12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3873-B0B3-42AD-A9E3-38D38FDA1AE4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C21AA-529A-CD8F-144B-0558315C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BDA40-BFEF-88D6-3F18-467EDFCA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6C22-FC3E-4CCF-82F9-63C046559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82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F75C-CCFE-7BD5-3D8E-DF826C357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C9D4F-5B9C-8F7C-09E8-CC4B8B498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73AA1-E8AD-C184-368F-2548F69CE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7B0C2-1CCA-E3D3-177E-CB07F35D7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3873-B0B3-42AD-A9E3-38D38FDA1AE4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8CD39-23A7-49BB-0BEA-E74877BC5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9C13D-4033-9336-2D92-F6164ACB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6C22-FC3E-4CCF-82F9-63C046559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251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740A9-6391-FB8A-2CAB-CD9F262B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F4998-66D5-6478-3AD1-F2432BCAB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B3626-1390-A453-7876-B4ADAC88F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7D2E73-D305-F805-39D3-C6AE843BF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C5A2BF-36DA-76DB-0D52-8813136354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239B3D-8EC7-68F3-7B16-995C0946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3873-B0B3-42AD-A9E3-38D38FDA1AE4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D7613-7BE9-174F-1601-31E8D4817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F868C-FDB7-4808-9FA1-FF95C5D2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6C22-FC3E-4CCF-82F9-63C046559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889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65B9C-D658-726F-A2FD-19C69FC8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3C5BFB-CE50-A7A8-E353-81A5BA23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3873-B0B3-42AD-A9E3-38D38FDA1AE4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6FCAE-CF07-E8DE-20E2-32AF30CED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8F891-8FED-9D2F-CD39-1E108F69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6C22-FC3E-4CCF-82F9-63C046559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93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518578-568C-B4B2-9A0A-CFF1E22A9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3873-B0B3-42AD-A9E3-38D38FDA1AE4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BC5AC-37B9-F21B-E96B-AFBBD89A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EBA5D-6170-04F2-8FFA-33322E96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6C22-FC3E-4CCF-82F9-63C046559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65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64BA-5411-A3BE-2724-7C8313302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7E4E9-494A-A8B8-65CD-AD8D28AD3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1CBFF-AF20-601F-EC05-247F74406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0681D-471F-1CBF-D380-E08C3D134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3873-B0B3-42AD-A9E3-38D38FDA1AE4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B8977-8E80-1560-32C1-662FB56F6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68657-1F1E-D76B-2055-F5D0BBEF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6C22-FC3E-4CCF-82F9-63C046559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94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BF4B-C00A-C286-8B5D-E400D8A0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2661B8-24C1-DBC0-6697-C09DC257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0D6163-CE7F-594E-96B7-FE65F7B4F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7768F-6745-5D48-EC5D-5A8AF34A7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3873-B0B3-42AD-A9E3-38D38FDA1AE4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11228-DB2E-6E8A-8373-7B26E9D07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10ECE-9A41-4779-216D-E09AC375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6C22-FC3E-4CCF-82F9-63C046559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22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ED38E-32E3-2617-703C-565EF1607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707A2-AA14-6ED9-634F-1DF3AE8D3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1E116-4F9D-5C23-1284-501D4AF3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3873-B0B3-42AD-A9E3-38D38FDA1AE4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F6301-C626-799C-BC95-6887E8CAE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DE73C-C76A-DBC9-3BB6-9036DA60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6C22-FC3E-4CCF-82F9-63C046559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64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4062B6-5B6D-D3D9-ED7F-D3F5241136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4E8F5-984F-9192-49A1-A2538FFBE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2EFE7-8DDB-E42F-E564-C003B345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3873-B0B3-42AD-A9E3-38D38FDA1AE4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86E56-06AB-19C5-6B7C-7BF768A9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96DD9-90C2-A698-60EC-FB0E675E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86C22-FC3E-4CCF-82F9-63C046559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857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AED630-9CB1-EDD9-E334-9DDD12420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2C8F6-C996-5F2E-99FB-F675905A9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29CB-EC36-7827-5E67-DFAE2DDBD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73873-B0B3-42AD-A9E3-38D38FDA1AE4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34EEC-14B6-A6E7-A7FF-F564699E8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8B925-9238-67D1-9983-DA2A8E915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86C22-FC3E-4CCF-82F9-63C046559D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57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0E71-7A30-9A90-BC54-667A2B39F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7553"/>
            <a:ext cx="9144000" cy="914399"/>
          </a:xfrm>
        </p:spPr>
        <p:txBody>
          <a:bodyPr>
            <a:normAutofit fontScale="90000"/>
          </a:bodyPr>
          <a:lstStyle/>
          <a:p>
            <a:r>
              <a:rPr lang="en-US" dirty="0"/>
              <a:t>SAP SDLC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00EF2-8D33-0407-6D32-8B55C25B65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delivery of SAP requirements, from business need to tested code — on Claude Code</a:t>
            </a:r>
          </a:p>
        </p:txBody>
      </p:sp>
    </p:spTree>
    <p:extLst>
      <p:ext uri="{BB962C8B-B14F-4D97-AF65-F5344CB8AC3E}">
        <p14:creationId xmlns:p14="http://schemas.microsoft.com/office/powerpoint/2010/main" val="340708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0247-8293-878D-1D86-D77D97CA4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5F00-76BC-EF74-A694-47AA7F8E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DBB4-7C3D-7478-A030-43561D0AF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Framework v3.0 — migrated from VS Code + GitHub Copilot to Claude Code</a:t>
            </a:r>
          </a:p>
          <a:p>
            <a:r>
              <a:rPr sz="2400"/>
              <a:t>Six chained slash commands, six skills, shared governance rules in place</a:t>
            </a:r>
          </a:p>
          <a:p>
            <a:r>
              <a:rPr sz="2400"/>
              <a:t>Status utility (/Status) shows per-requirement progress across all phases</a:t>
            </a:r>
          </a:p>
          <a:p>
            <a:r>
              <a:rPr sz="2400"/>
              <a:t>/Code and /Testing connect to SAP via an MCP server (e.g. ARC-1); manual-build fallback if none is connected</a:t>
            </a:r>
          </a:p>
          <a:p>
            <a:r>
              <a:rPr sz="2400"/>
              <a:t>Naming standards configurable in config/naming-standards.json</a:t>
            </a:r>
          </a:p>
        </p:txBody>
      </p:sp>
    </p:spTree>
    <p:extLst>
      <p:ext uri="{BB962C8B-B14F-4D97-AF65-F5344CB8AC3E}">
        <p14:creationId xmlns:p14="http://schemas.microsoft.com/office/powerpoint/2010/main" val="199119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2156C-7B85-32C7-0349-52B0ACB2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FA5F5-B70C-8088-F304-9731BF9C9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SAP requirements lose fidelity as they pass between BA, architect, functional and technical teams</a:t>
            </a:r>
          </a:p>
          <a:p>
            <a:r>
              <a:rPr sz="2400"/>
              <a:t>Business rules get invented or silently changed between phases</a:t>
            </a:r>
          </a:p>
          <a:p>
            <a:r>
              <a:rPr sz="2400"/>
              <a:t>Documentation lags the build, so traceability from need to test is weak</a:t>
            </a:r>
          </a:p>
          <a:p>
            <a:r>
              <a:rPr sz="2400"/>
              <a:t>Clean Core and governance rules are applied inconsistently</a:t>
            </a:r>
          </a:p>
          <a:p>
            <a:r>
              <a:rPr sz="2400"/>
              <a:t>AI coding without a spec risks fabricated rules and objects</a:t>
            </a:r>
          </a:p>
        </p:txBody>
      </p:sp>
    </p:spTree>
    <p:extLst>
      <p:ext uri="{BB962C8B-B14F-4D97-AF65-F5344CB8AC3E}">
        <p14:creationId xmlns:p14="http://schemas.microsoft.com/office/powerpoint/2010/main" val="2186209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712C2-05B1-0041-4ADE-F04C1628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998D-47E3-A1BA-C400-4CE2BDBD2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 Driven Development(SDD)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E796E-E19C-08A0-5E1D-6BD029EB6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Every build starts from a frozen, signed-off specification — not from a prompt</a:t>
            </a:r>
          </a:p>
          <a:p>
            <a:r>
              <a:rPr sz="2400"/>
              <a:t>Each artifact is the source of truth for the next phase</a:t>
            </a:r>
          </a:p>
          <a:p>
            <a:r>
              <a:rPr sz="2400"/>
              <a:t>Gated progression: a phase will not start until its upstream document is frozen</a:t>
            </a:r>
          </a:p>
          <a:p>
            <a:r>
              <a:rPr sz="2400"/>
              <a:t>No fabrication: the AI formalizes what the user provides and labels any assumption</a:t>
            </a:r>
          </a:p>
          <a:p>
            <a:r>
              <a:rPr sz="2400"/>
              <a:t>Traceability: every field links back to the requirement that justified it</a:t>
            </a:r>
          </a:p>
        </p:txBody>
      </p:sp>
    </p:spTree>
    <p:extLst>
      <p:ext uri="{BB962C8B-B14F-4D97-AF65-F5344CB8AC3E}">
        <p14:creationId xmlns:p14="http://schemas.microsoft.com/office/powerpoint/2010/main" val="3792390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B2ABE-9982-45A4-859D-17780B9AB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E727-8BD6-406B-D520-521AE907A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Propositions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25490-3851-D273-0221-110FECD46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Consistency — one repeatable process for every SAP requirement</a:t>
            </a:r>
          </a:p>
          <a:p>
            <a:r>
              <a:rPr sz="2400"/>
              <a:t>Traceability — business need to test result, end to end</a:t>
            </a:r>
          </a:p>
          <a:p>
            <a:r>
              <a:rPr sz="2400"/>
              <a:t>Quality — Clean Core, security, performance and testability rules enforced in every phase</a:t>
            </a:r>
          </a:p>
          <a:p>
            <a:r>
              <a:rPr sz="2400"/>
              <a:t>Speed — AI drafts each document; people review and approve</a:t>
            </a:r>
          </a:p>
          <a:p>
            <a:r>
              <a:rPr sz="2400"/>
              <a:t>Control — explicit sign-off gates and versioning; no silent overwrites</a:t>
            </a:r>
          </a:p>
        </p:txBody>
      </p:sp>
    </p:spTree>
    <p:extLst>
      <p:ext uri="{BB962C8B-B14F-4D97-AF65-F5344CB8AC3E}">
        <p14:creationId xmlns:p14="http://schemas.microsoft.com/office/powerpoint/2010/main" val="364006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C8A8-C0F7-269C-EE06-3EFD7BD07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434F-1497-BDB4-FF14-62FC489A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SAP SDLC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8FF81-C74A-2B77-A56D-E6B711A1C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An AI-assisted, end-to-end SAP delivery lifecycle for Claude Code</a:t>
            </a:r>
          </a:p>
          <a:p>
            <a:r>
              <a:rPr sz="2400"/>
              <a:t>Six phases, one question each:</a:t>
            </a:r>
          </a:p>
          <a:p>
            <a:r>
              <a:rPr sz="2400"/>
              <a:t>/Scope → /SolutionArchitect → /FunctionalSpec → /TechnicalSpec → /Code → /Testing</a:t>
            </a:r>
          </a:p>
          <a:p>
            <a:r>
              <a:rPr sz="2400"/>
              <a:t>Each phase reads its frozen upstream artifact, asks one batched round of clarifying questions, freezes a document with sign-off, and hands off to the next</a:t>
            </a:r>
          </a:p>
        </p:txBody>
      </p:sp>
    </p:spTree>
    <p:extLst>
      <p:ext uri="{BB962C8B-B14F-4D97-AF65-F5344CB8AC3E}">
        <p14:creationId xmlns:p14="http://schemas.microsoft.com/office/powerpoint/2010/main" val="2804923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9A58C-AADD-B543-EAE8-CB115FED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56E2-9A02-8146-F0F5-8E20748F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7BA97-5726-E3C1-925E-E3F82C165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Phase Boundary Table — each phase answers only its own question</a:t>
            </a:r>
          </a:p>
          <a:p>
            <a:r>
              <a:rPr sz="2200"/>
              <a:t>Hard Gates between phases, with automatic backward cascade</a:t>
            </a:r>
          </a:p>
          <a:p>
            <a:r>
              <a:rPr sz="2200"/>
              <a:t>Per-phase role check adapts question depth to the user's profile</a:t>
            </a:r>
          </a:p>
          <a:p>
            <a:r>
              <a:rPr sz="2200"/>
              <a:t>Clarifying questions as selectable options; skipping never blocks progress</a:t>
            </a:r>
          </a:p>
          <a:p>
            <a:r>
              <a:rPr sz="2200"/>
              <a:t>Versioning policy: completed requirements re-enter as Version 2</a:t>
            </a:r>
          </a:p>
          <a:p>
            <a:r>
              <a:rPr sz="2200"/>
              <a:t>Cross-phase change propagation, execution logging and /Status dashboard</a:t>
            </a:r>
          </a:p>
        </p:txBody>
      </p:sp>
    </p:spTree>
    <p:extLst>
      <p:ext uri="{BB962C8B-B14F-4D97-AF65-F5344CB8AC3E}">
        <p14:creationId xmlns:p14="http://schemas.microsoft.com/office/powerpoint/2010/main" val="1697365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9B0C8-F130-47CC-F504-EFEE963B6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FD68-906E-31B7-226B-AC092A65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SAP SDLC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8E043-14F7-62CF-CD69-19E006EA4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CLAUDE.md — framework rules, auto-loaded</a:t>
            </a:r>
          </a:p>
          <a:p>
            <a:r>
              <a:rPr sz="2200"/>
              <a:t>.claude/commands — the slash commands and Hard Gates</a:t>
            </a:r>
          </a:p>
          <a:p>
            <a:r>
              <a:rPr sz="2200"/>
              <a:t>.claude/skills — full procedure per phase</a:t>
            </a:r>
          </a:p>
          <a:p>
            <a:r>
              <a:rPr sz="2200"/>
              <a:t>.claude/shared — governance, clarification, versioning, logging</a:t>
            </a:r>
          </a:p>
          <a:p>
            <a:r>
              <a:rPr sz="2200"/>
              <a:t>Artifacts/ — frozen BRD, Solution Architect, FS, TS, Build, Test documents</a:t>
            </a:r>
          </a:p>
          <a:p>
            <a:r>
              <a:rPr sz="2200"/>
              <a:t>execution/&lt;req-id&gt;/ — clarification transcripts and profile history</a:t>
            </a:r>
          </a:p>
          <a:p>
            <a:r>
              <a:rPr sz="2200"/>
              <a:t>config/ and knowledge/ — naming standards and reference material</a:t>
            </a:r>
          </a:p>
        </p:txBody>
      </p:sp>
    </p:spTree>
    <p:extLst>
      <p:ext uri="{BB962C8B-B14F-4D97-AF65-F5344CB8AC3E}">
        <p14:creationId xmlns:p14="http://schemas.microsoft.com/office/powerpoint/2010/main" val="2642530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431FD-793E-19F3-F04D-39F6BB935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0B90-07A3-40F2-9A4C-487F4276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8423C-2BA9-C9B8-675E-DEC160A4A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1. Open the project in Claude Code (CLI, VS Code or JetBrains)</a:t>
            </a:r>
          </a:p>
          <a:p>
            <a:r>
              <a:rPr sz="2400"/>
              <a:t>2. Run /Scope and describe the business need</a:t>
            </a:r>
          </a:p>
          <a:p>
            <a:r>
              <a:rPr sz="2400"/>
              <a:t>3. Approve each frozen document, then follow the handoff to the next command</a:t>
            </a:r>
          </a:p>
          <a:p>
            <a:r>
              <a:rPr sz="2400"/>
              <a:t>4. Run /Code with SAP connectivity; /Testing ends with UAT sign-off</a:t>
            </a:r>
          </a:p>
          <a:p>
            <a:r>
              <a:rPr sz="2400"/>
              <a:t>5. Find all deliverables in Artifacts/; use /Status at any time</a:t>
            </a:r>
          </a:p>
        </p:txBody>
      </p:sp>
    </p:spTree>
    <p:extLst>
      <p:ext uri="{BB962C8B-B14F-4D97-AF65-F5344CB8AC3E}">
        <p14:creationId xmlns:p14="http://schemas.microsoft.com/office/powerpoint/2010/main" val="3921539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AA23F-69F7-4C8B-8844-11D40B4A3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11A1-8829-A731-580F-6FDD1C62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Audience &amp; Stakeholders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DD6A7-3A3E-51CD-D875-1290D9055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Business Analysts — /Scope</a:t>
            </a:r>
          </a:p>
          <a:p>
            <a:r>
              <a:rPr sz="2200"/>
              <a:t>Solution Architects — /SolutionArchitect</a:t>
            </a:r>
          </a:p>
          <a:p>
            <a:r>
              <a:rPr sz="2200"/>
              <a:t>Functional Consultants — /FunctionalSpec</a:t>
            </a:r>
          </a:p>
          <a:p>
            <a:r>
              <a:rPr sz="2200"/>
              <a:t>ABAP / Technical Developers — /TechnicalSpec and /Code</a:t>
            </a:r>
          </a:p>
          <a:p>
            <a:r>
              <a:rPr sz="2200"/>
              <a:t>Testers and business users — /Testing and UAT</a:t>
            </a:r>
          </a:p>
          <a:p>
            <a:r>
              <a:rPr sz="2200"/>
              <a:t>Project Managers — oversight via /Status and approval gates</a:t>
            </a:r>
          </a:p>
        </p:txBody>
      </p:sp>
    </p:spTree>
    <p:extLst>
      <p:ext uri="{BB962C8B-B14F-4D97-AF65-F5344CB8AC3E}">
        <p14:creationId xmlns:p14="http://schemas.microsoft.com/office/powerpoint/2010/main" val="3995633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0160E-A4C6-F9F4-6396-8FEDCF56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497F-1187-EFD4-D3DB-73DC9F6A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E3C03-9AB4-F3D3-322E-93A9DD7AD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Runs as a project folder opened in Claude Code — CLAUDE.md and commands load automatically</a:t>
            </a:r>
          </a:p>
          <a:p>
            <a:r>
              <a:rPr sz="2400"/>
              <a:t>Optional MCP server (e.g. ARC-1) for direct SAP connectivity in /Code and /Testing</a:t>
            </a:r>
          </a:p>
          <a:p>
            <a:r>
              <a:rPr sz="2400"/>
              <a:t>Adapt config/naming-standards.json to organization standards before first use</a:t>
            </a:r>
          </a:p>
          <a:p>
            <a:r>
              <a:rPr sz="2400"/>
              <a:t>Artifacts are plain Markdown in Git, versioned alongside the project</a:t>
            </a:r>
          </a:p>
        </p:txBody>
      </p:sp>
    </p:spTree>
    <p:extLst>
      <p:ext uri="{BB962C8B-B14F-4D97-AF65-F5344CB8AC3E}">
        <p14:creationId xmlns:p14="http://schemas.microsoft.com/office/powerpoint/2010/main" val="1983726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44C80-6C69-0E3A-9298-9536DD3C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08A2-2E83-45AB-29F1-E0255DD3F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A1D4-DF38-DE3E-24FE-ABA7C3F99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Framework: file-based project, no separate license stated in the repository</a:t>
            </a:r>
          </a:p>
          <a:p>
            <a:r>
              <a:rPr sz="2400"/>
              <a:t>Requires Claude Code access and an SAP system for /Code and /Testing</a:t>
            </a:r>
          </a:p>
          <a:p>
            <a:r>
              <a:rPr sz="2400"/>
              <a:t>Optional MCP server for SAP connectivity</a:t>
            </a:r>
          </a:p>
          <a:p>
            <a:r>
              <a:rPr sz="2400"/>
              <a:t>Effort and licensing figures: to be confirmed</a:t>
            </a:r>
          </a:p>
        </p:txBody>
      </p:sp>
    </p:spTree>
    <p:extLst>
      <p:ext uri="{BB962C8B-B14F-4D97-AF65-F5344CB8AC3E}">
        <p14:creationId xmlns:p14="http://schemas.microsoft.com/office/powerpoint/2010/main" val="2255240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0C086-3B95-C6CE-1D08-A0DF95BA4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2179-5A21-7D78-E4DB-2CC2111B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475C3-975C-1E18-5FF1-D722128D6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v1.0 — skills-based scaffold covering Scope to Deployment (retired)</a:t>
            </a:r>
          </a:p>
          <a:p>
            <a:r>
              <a:rPr sz="2400"/>
              <a:t>v2.0 — hierarchy cleanup into a single prompt-based source of logic</a:t>
            </a:r>
          </a:p>
          <a:p>
            <a:r>
              <a:rPr sz="2400"/>
              <a:t>v3.0 — Claude Code migration (current)</a:t>
            </a:r>
          </a:p>
          <a:p>
            <a:r>
              <a:rPr sz="2400"/>
              <a:t>Next: to be confirmed by the team</a:t>
            </a:r>
          </a:p>
        </p:txBody>
      </p:sp>
    </p:spTree>
    <p:extLst>
      <p:ext uri="{BB962C8B-B14F-4D97-AF65-F5344CB8AC3E}">
        <p14:creationId xmlns:p14="http://schemas.microsoft.com/office/powerpoint/2010/main" val="1916328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SAP SDLC</vt:lpstr>
      <vt:lpstr>Current Stage</vt:lpstr>
      <vt:lpstr>Problem</vt:lpstr>
      <vt:lpstr>Spec Driven Development(SDD)</vt:lpstr>
      <vt:lpstr>Value Propositions</vt:lpstr>
      <vt:lpstr>What is SAP SDLC</vt:lpstr>
      <vt:lpstr>Features</vt:lpstr>
      <vt:lpstr>SAP SDLC Structure</vt:lpstr>
      <vt:lpstr>How to use</vt:lpstr>
      <vt:lpstr>Target Audience &amp; Stakeholders</vt:lpstr>
      <vt:lpstr>Deployment</vt:lpstr>
      <vt:lpstr>Cost</vt:lpstr>
      <vt:lpstr>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Shilpi Verma</dc:creator>
  <cp:lastModifiedBy>Shilpi Verma</cp:lastModifiedBy>
  <cp:revision>1</cp:revision>
  <dcterms:created xsi:type="dcterms:W3CDTF">2026-08-25T09:02:52Z</dcterms:created>
  <dcterms:modified xsi:type="dcterms:W3CDTF">2026-08-25T09:08:58Z</dcterms:modified>
</cp:coreProperties>
</file>